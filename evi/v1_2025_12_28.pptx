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747" r:id="rId3"/>
    <p:sldId id="748" r:id="rId5"/>
    <p:sldId id="771" r:id="rId6"/>
    <p:sldId id="772" r:id="rId7"/>
    <p:sldId id="773" r:id="rId8"/>
    <p:sldId id="774" r:id="rId9"/>
    <p:sldId id="775" r:id="rId10"/>
    <p:sldId id="776" r:id="rId11"/>
    <p:sldId id="777" r:id="rId12"/>
    <p:sldId id="779" r:id="rId13"/>
    <p:sldId id="780" r:id="rId14"/>
    <p:sldId id="781" r:id="rId15"/>
    <p:sldId id="782" r:id="rId16"/>
    <p:sldId id="778" r:id="rId17"/>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9" userDrawn="1">
          <p15:clr>
            <a:srgbClr val="A4A3A4"/>
          </p15:clr>
        </p15:guide>
        <p15:guide id="2" pos="384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lenovo"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D9D9D9"/>
    <a:srgbClr val="FAFAFA"/>
    <a:srgbClr val="C28C25"/>
    <a:srgbClr val="F98C29"/>
    <a:srgbClr val="FFFFFF"/>
    <a:srgbClr val="DCDCDC"/>
    <a:srgbClr val="F0F0F0"/>
    <a:srgbClr val="E6E6E6"/>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409"/>
        <p:guide pos="384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77.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7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7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7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7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8270240" y="5387975"/>
            <a:ext cx="2755265" cy="953135"/>
          </a:xfrm>
          <a:prstGeom prst="rect">
            <a:avLst/>
          </a:prstGeom>
        </p:spPr>
        <p:txBody>
          <a:bodyPr wrap="square">
            <a:spAutoFit/>
          </a:bodyPr>
          <a:p>
            <a:r>
              <a:rPr lang="en-US" altLang="zh-CN" sz="2800">
                <a:solidFill>
                  <a:srgbClr val="000000"/>
                </a:solidFill>
                <a:latin typeface="Times New Roman" panose="02020603050405020304" charset="0"/>
                <a:ea typeface="Calibri" panose="020F0502020204030204"/>
                <a:cs typeface="Times New Roman" panose="02020603050405020304" charset="0"/>
              </a:rPr>
              <a:t>Pengfei Yin</a:t>
            </a:r>
            <a:endParaRPr lang="en-US" altLang="zh-CN" sz="2800">
              <a:solidFill>
                <a:srgbClr val="000000"/>
              </a:solidFill>
              <a:latin typeface="Times New Roman" panose="02020603050405020304" charset="0"/>
              <a:ea typeface="Calibri" panose="020F0502020204030204"/>
              <a:cs typeface="Times New Roman" panose="02020603050405020304" charset="0"/>
            </a:endParaRPr>
          </a:p>
          <a:p>
            <a:r>
              <a:rPr lang="en-US" altLang="zh-CN" sz="2800">
                <a:solidFill>
                  <a:srgbClr val="000000"/>
                </a:solidFill>
                <a:latin typeface="Times New Roman" panose="02020603050405020304" charset="0"/>
                <a:ea typeface="Calibri" panose="020F0502020204030204"/>
                <a:cs typeface="Times New Roman" panose="02020603050405020304" charset="0"/>
              </a:rPr>
              <a:t>2025.11</a:t>
            </a:r>
            <a:endParaRPr lang="en-US" altLang="zh-CN" sz="2800">
              <a:solidFill>
                <a:srgbClr val="000000"/>
              </a:solidFill>
              <a:latin typeface="Times New Roman" panose="02020603050405020304" charset="0"/>
              <a:ea typeface="Calibri" panose="020F0502020204030204"/>
              <a:cs typeface="Times New Roman" panose="02020603050405020304" charset="0"/>
            </a:endParaRPr>
          </a:p>
        </p:txBody>
      </p:sp>
      <p:sp>
        <p:nvSpPr>
          <p:cNvPr id="3" name="文本框 8"/>
          <p:cNvSpPr txBox="1"/>
          <p:nvPr/>
        </p:nvSpPr>
        <p:spPr>
          <a:xfrm>
            <a:off x="1132840" y="2608580"/>
            <a:ext cx="10686415" cy="1198880"/>
          </a:xfrm>
          <a:prstGeom prst="rect">
            <a:avLst/>
          </a:prstGeom>
        </p:spPr>
        <p:txBody>
          <a:bodyPr wrap="square">
            <a:spAutoFit/>
          </a:bodyPr>
          <a:p>
            <a:pPr algn="ctr"/>
            <a:r>
              <a:rPr lang="en-US" altLang="zh-CN" sz="3600">
                <a:solidFill>
                  <a:srgbClr val="000000"/>
                </a:solidFill>
                <a:latin typeface="Times New Roman" panose="02020603050405020304" charset="0"/>
                <a:ea typeface="Calibri" panose="020F0502020204030204"/>
                <a:cs typeface="Times New Roman" panose="02020603050405020304" charset="0"/>
              </a:rPr>
              <a:t>LocalFinder: detecting local correlation and enrichment between epigenomic tracks</a:t>
            </a:r>
            <a:endParaRPr lang="en-US" altLang="zh-CN" sz="3600">
              <a:solidFill>
                <a:srgbClr val="000000"/>
              </a:solidFill>
              <a:latin typeface="Times New Roman" panose="02020603050405020304" charset="0"/>
              <a:ea typeface="Calibri" panose="020F0502020204030204"/>
              <a:cs typeface="Times New Roman" panose="02020603050405020304" charset="0"/>
            </a:endParaRPr>
          </a:p>
        </p:txBody>
      </p:sp>
      <p:pic>
        <p:nvPicPr>
          <p:cNvPr id="2" name="图片 1" descr="截屏2025-06-16 09.38.59"/>
          <p:cNvPicPr>
            <a:picLocks noChangeAspect="1"/>
          </p:cNvPicPr>
          <p:nvPr/>
        </p:nvPicPr>
        <p:blipFill>
          <a:blip r:embed="rId1"/>
          <a:stretch>
            <a:fillRect/>
          </a:stretch>
        </p:blipFill>
        <p:spPr>
          <a:xfrm>
            <a:off x="10552430" y="0"/>
            <a:ext cx="1639570" cy="1087755"/>
          </a:xfrm>
          <a:prstGeom prst="rect">
            <a:avLst/>
          </a:prstGeom>
        </p:spPr>
      </p:pic>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Abstract</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647700" y="1252855"/>
            <a:ext cx="7891145" cy="829945"/>
          </a:xfrm>
          <a:prstGeom prst="rect">
            <a:avLst/>
          </a:prstGeom>
        </p:spPr>
        <p:txBody>
          <a:bodyPr wrap="square">
            <a:spAutoFit/>
          </a:bodyPr>
          <a:p>
            <a:r>
              <a:rPr lang="en-US" altLang="zh-CN" sz="1600">
                <a:latin typeface="Times New Roman" panose="02020603050405020304" charset="0"/>
                <a:cs typeface="Times New Roman" panose="02020603050405020304" charset="0"/>
              </a:rPr>
              <a:t>For a pair of genomic tracks, the combination of ES and HMC can classify partially depleted and totally depleted regions (or preprogrammed and reprogrammed regions) for further biological interpretation. For two pairs of genomic tracks, their </a:t>
            </a:r>
            <a:endParaRPr lang="zh-CN" altLang="en-US"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Introduction</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257175" y="1200785"/>
            <a:ext cx="11520805" cy="4769485"/>
          </a:xfrm>
          <a:prstGeom prst="rect">
            <a:avLst/>
          </a:prstGeom>
        </p:spPr>
        <p:txBody>
          <a:bodyPr wrap="square">
            <a:spAutoFit/>
          </a:bodyPr>
          <a:p>
            <a:r>
              <a:rPr lang="en-US" altLang="zh-CN" sz="800">
                <a:latin typeface="Times New Roman" panose="02020603050405020304" charset="0"/>
                <a:cs typeface="Times New Roman" panose="02020603050405020304" charset="0"/>
              </a:rPr>
              <a:t>Genome-wide scale relationships between epigenomic features and transcription are informative—for example, H3K4me3 is broadly enriched at promoters of actively transcribed genes, linking a chromatin mark to gene activity (Cell 2007, PMID: 17512414). However, such global relationships can provide limited insight into regulatory mechanisms at specific loci, because a high overall correlation can mask sharp, functionally meaningful local differences. For instance, Maurano et al. reported a very high overall similarity between DNase-seq profiles in fetal heart and fetal kidney (R = 0.99), yet individual local regions exhibit markedly different accessibility, consistent with tissue-specific regulatory element usage (Science 2012, PMID: 22955828). </a:t>
            </a:r>
            <a:endParaRPr lang="en-US" altLang="zh-CN" sz="800">
              <a:latin typeface="Times New Roman" panose="02020603050405020304" charset="0"/>
              <a:cs typeface="Times New Roman" panose="02020603050405020304" charset="0"/>
            </a:endParaRPr>
          </a:p>
          <a:p>
            <a:endParaRPr lang="en-US" altLang="zh-CN" sz="800">
              <a:latin typeface="Times New Roman" panose="02020603050405020304" charset="0"/>
              <a:cs typeface="Times New Roman" panose="02020603050405020304" charset="0"/>
            </a:endParaRPr>
          </a:p>
          <a:p>
            <a:r>
              <a:rPr lang="en-US" altLang="zh-CN" sz="800">
                <a:latin typeface="Times New Roman" panose="02020603050405020304" charset="0"/>
                <a:cs typeface="Times New Roman" panose="02020603050405020304" charset="0"/>
              </a:rPr>
              <a:t>Importantly, once analysis shifts from global to local relationships, distinct local patterns often reflect distinct regulatory mechanisms. During glucocorticoid signaling, John et al. compared DNase-seq with GR ChIP-seq and identified pre-programmed sites where GR binds predominantly within pre-existing accessible chromatin, versus reprogrammed sites where GR binding coincides with newly induced accessibility, consistent with stimulus-dependent chromatin remodeling. These patterns carry different biological implications: pre-programmed binding highlights a dominant role of the baseline chromatin landscape in directing de novo factor occupancy, helping explain why the same glucocorticoid machinery can produce tissue-specific responses across cell types with different accessibility profiles; in contrast, reprogrammed sites represent a smaller set of loci where chromatin remodeling can create new potential occupancy sites, providing a mechanism for incremental, directional regulatory change and a form of cellular memory across differentiation (Nature Genetics 2011, PMID: 21258342). Likewise, under acute CTCF depletion, local comparisons between CTCF ChIP-seq and Hi-C–derived insulation/loop features reveal heterogeneous sensitivity: some loci become totally depleted of CTCF with pronounced loss of local insulation, whereas others are only partially depleted and retain weaker (but detectable) insulation. This distinction is biologically informative because insulation defects scale with the degree of CTCF loss—CTCF acts potently and dose-dependently in maintaining TAD insulation—so partially depleted loci can preserve boundary function, whereas near-complete depletion is required to trigger the most substantial folding defects (Cell 2017, PMID: 28525758).</a:t>
            </a:r>
            <a:endParaRPr lang="en-US" altLang="zh-CN" sz="800">
              <a:latin typeface="Times New Roman" panose="02020603050405020304" charset="0"/>
              <a:cs typeface="Times New Roman" panose="02020603050405020304" charset="0"/>
            </a:endParaRPr>
          </a:p>
          <a:p>
            <a:endParaRPr lang="en-US" altLang="zh-CN" sz="800">
              <a:latin typeface="Times New Roman" panose="02020603050405020304" charset="0"/>
              <a:cs typeface="Times New Roman" panose="02020603050405020304" charset="0"/>
            </a:endParaRPr>
          </a:p>
          <a:p>
            <a:r>
              <a:rPr lang="en-US" altLang="zh-CN" sz="800">
                <a:latin typeface="Times New Roman" panose="02020603050405020304" charset="0"/>
                <a:cs typeface="Times New Roman" panose="02020603050405020304" charset="0"/>
              </a:rPr>
              <a:t>Various tools have been developed to study genomic relationships, each focused on different types of analysis. Global correlation tools like DeepTools (NAR 2014, PMID: 24799436; NAR 2016, PMID: 27079975) and BEDTools (Bioinformatics 2010, PMID: 20110278) are used to analyze relationships across the entire genome, especially for continuous data (e.g., ChIP-seq and RNA-seq) or interval data, by calculating how genomic features co-vary across all positions. DeepTools offers a range of methods for calculating global correlations, with Pearson’s correlation being the most commonly used method to assess relationships between tracks, such as histone modifications and transcriptional activity. It also provides options for Spearman’s rank correlation and distance-based methods to capture non-linear relationships when required. BEDTools, on the other hand, calculates global correlation by evaluating the overlap or co-occurrence of interval-based features across genomic tracks. It typically uses simple overlap analysis or Fisher’s exact test to measure the statistical significance of these overlaps. StereoGene (Bioinformatics 2017, PMID: 29028265) is another global correlation tool that rapidly estimates correlations between pairs of genomic features using kernel-based correlation. It provides an efficient way to compute the correlation of continuous genomic profiles across the genome, offering a smoothed estimate of correlation using a Gaussian kernel. For local correlation, StereoGene also computes the local correlation (LC) of genomic features as a function of genomic position, providing a detailed view of how features co-vary at a finer scale. This allows researchers to analyze how relationships between features vary at specific loci, enabling insights into spatially resolved regulatory mechanisms. DeepTools is also useful for local correlation by computing correlation scores within sliding windows across the genome. For local enrichment, ChIPSeeker (Bioinformatics, 2015, PMID: 25765347), Homer (Mol Cell 2010, PMID: 20513432), and MACS2 (Nature Protocol 2012, PMCID: PMC3868217) identify enriched genomic regions for specific epigenomic marks like H3K27ac and H3K4me3, using statistical models to detect significant peaks, while DROMPA (Methods 2020, PMID: 32240773) and DeepTools focus on identifying regions with high chromatin feature densities, using background correction to account for genomic biases.</a:t>
            </a:r>
            <a:endParaRPr lang="en-US" altLang="zh-CN" sz="800">
              <a:latin typeface="Times New Roman" panose="02020603050405020304" charset="0"/>
              <a:cs typeface="Times New Roman" panose="02020603050405020304" charset="0"/>
            </a:endParaRPr>
          </a:p>
          <a:p>
            <a:endParaRPr lang="en-US" altLang="zh-CN" sz="800">
              <a:latin typeface="Times New Roman" panose="02020603050405020304" charset="0"/>
              <a:cs typeface="Times New Roman" panose="02020603050405020304" charset="0"/>
            </a:endParaRPr>
          </a:p>
          <a:p>
            <a:r>
              <a:rPr lang="en-US" altLang="zh-CN" sz="800">
                <a:latin typeface="Times New Roman" panose="02020603050405020304" charset="0"/>
                <a:cs typeface="Times New Roman" panose="02020603050405020304" charset="0"/>
              </a:rPr>
              <a:t>When calculating local enrichment and local correlation between genomic tracks, a key challenge is that regions with low values in both tracks can lead to random fluctuations, making the results unreliable. For example, in local enrichment tools like DROMPA, the ratio of the two tracks is used to calculate enrichment (Methods 2020, PMID: 32240773). However, the ratio of two small values can fluctuate significantly, introducing instability. Additionally, tools like and DROMPA assume that genomic regions follow a Poisson or Negative Binomial distribution, using background correction models to account for genomic noise. However, this approach has limitations, particularly when dealing with an abundance of zero values across the genome, which can undermine the reliability of peak calling in low-coverage regions. This is where the Zero-Inflated Negative Binomial (ZINB) distribution may offer improvements, as it can better model the excess zeros and handle low-coverage data more robustly (Genome Biology 2011, PMID: 21787385). MACS2 circumvents this issue by focusing on high-coverage candidate regions, but even these regions can contain valuable regulatory information. Furthermore, MACS2's null hypothesis tests for enrichment but lacks the ability to differentiate between de novo peaks and strengthened peaks, which can have distinct biological significance. Strengthened peaks typically represent regions with pre-programmed regulatory features, where the signal is consistently higher and correlates with established regulatory mechanisms. In contrast, de novo peaks may indicate reprogrammed binding regions, marking novel regulatory changes or cell type-specific events (Nature Genetics 2011, PMID: 21258342). Additionally, methods like TOBIS (NC2020, PMID: 32848148) use a floor value to filter out low-coverage regions, ensuring that unreliable data does not influence the results. For local correlation, StereoGene's LC approach addresses fluctuations in low-coverage regions by using coverage as a weight in the correlation calculation, reducing the impact of unreliable data and ensuring more accurate correlations in higher-coverage regions (Bioinformatics 2017, PMID: 29028265).</a:t>
            </a:r>
            <a:endParaRPr lang="en-US" altLang="zh-CN" sz="800">
              <a:latin typeface="Times New Roman" panose="02020603050405020304" charset="0"/>
              <a:cs typeface="Times New Roman" panose="02020603050405020304" charset="0"/>
            </a:endParaRPr>
          </a:p>
          <a:p>
            <a:endParaRPr lang="en-US" altLang="zh-CN" sz="800">
              <a:latin typeface="Times New Roman" panose="02020603050405020304" charset="0"/>
              <a:cs typeface="Times New Roman" panose="02020603050405020304" charset="0"/>
            </a:endParaRPr>
          </a:p>
          <a:p>
            <a:r>
              <a:rPr lang="en-US" altLang="zh-CN" sz="800">
                <a:latin typeface="Times New Roman" panose="02020603050405020304" charset="0"/>
                <a:cs typeface="Times New Roman" panose="02020603050405020304" charset="0"/>
              </a:rPr>
              <a:t>Current tools primarily focus on either local enrichment or local correlation to study the relationships between two genomic tracks. Here, we introduce LocalFinder, which leverages both local enrichment and local correlation. Unlike methods that focus solely on high-coverage regions, LocalFinder is capable of producing reliable results even in low-coverage regions by incorporating Zero-Inflated Negative Binomial (ZINB) modeling and a floor value for the enrichment significance (ES) track, and by applying a harmonic mean as a weight for local correlation to generate the HMC track. Benchmarking on synthetic and real datasets demonstrates that jointly using both features consistently outperforms single-feature approaches, with LocalFinder's ES and HMC further enhanced by these strategies. Additionally, LocalFinder excels at distinguishing between re-programmed and pre-programmed regions, as well as between partially depleted and totally depleted regions, which have distinct biological implications. Further applications highlight LocalFinder's broad applicability and its ability to systematically uncover local regulatory changes, providing valuable biological insights.</a:t>
            </a:r>
            <a:endParaRPr lang="en-US" altLang="zh-CN" sz="800">
              <a:latin typeface="Times New Roman" panose="02020603050405020304" charset="0"/>
              <a:cs typeface="Times New Roman" panose="02020603050405020304" charset="0"/>
            </a:endParaRPr>
          </a:p>
          <a:p>
            <a:endParaRPr lang="en-US" altLang="zh-CN" sz="8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Results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930910" y="1346835"/>
            <a:ext cx="4403090" cy="337185"/>
          </a:xfrm>
          <a:prstGeom prst="rect">
            <a:avLst/>
          </a:prstGeom>
        </p:spPr>
        <p:txBody>
          <a:bodyPr wrap="square">
            <a:spAutoFit/>
          </a:bodyPr>
          <a:p>
            <a:r>
              <a:rPr lang="en-US" altLang="zh-CN" sz="1600">
                <a:latin typeface="Times New Roman" panose="02020603050405020304" charset="0"/>
                <a:cs typeface="Times New Roman" panose="02020603050405020304" charset="0"/>
              </a:rPr>
              <a:t>2020 </a:t>
            </a:r>
            <a:endParaRPr lang="zh-CN" altLang="en-US"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Discussion</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930910" y="1346835"/>
            <a:ext cx="4403090" cy="337185"/>
          </a:xfrm>
          <a:prstGeom prst="rect">
            <a:avLst/>
          </a:prstGeom>
        </p:spPr>
        <p:txBody>
          <a:bodyPr wrap="square">
            <a:spAutoFit/>
          </a:bodyPr>
          <a:p>
            <a:r>
              <a:rPr lang="en-US" altLang="zh-CN" sz="1600">
                <a:latin typeface="Times New Roman" panose="02020603050405020304" charset="0"/>
                <a:cs typeface="Times New Roman" panose="02020603050405020304" charset="0"/>
              </a:rPr>
              <a:t>2020 </a:t>
            </a:r>
            <a:endParaRPr lang="zh-CN" altLang="en-US"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Methods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930910" y="1346835"/>
            <a:ext cx="4403090" cy="337185"/>
          </a:xfrm>
          <a:prstGeom prst="rect">
            <a:avLst/>
          </a:prstGeom>
        </p:spPr>
        <p:txBody>
          <a:bodyPr wrap="square">
            <a:spAutoFit/>
          </a:bodyPr>
          <a:p>
            <a:r>
              <a:rPr lang="en-US" altLang="zh-CN" sz="1600">
                <a:latin typeface="Times New Roman" panose="02020603050405020304" charset="0"/>
                <a:cs typeface="Times New Roman" panose="02020603050405020304" charset="0"/>
              </a:rPr>
              <a:t>2020 </a:t>
            </a:r>
            <a:endParaRPr lang="zh-CN" altLang="en-US"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References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930910" y="1346835"/>
            <a:ext cx="4403090" cy="337185"/>
          </a:xfrm>
          <a:prstGeom prst="rect">
            <a:avLst/>
          </a:prstGeom>
        </p:spPr>
        <p:txBody>
          <a:bodyPr wrap="square">
            <a:spAutoFit/>
          </a:bodyPr>
          <a:p>
            <a:r>
              <a:rPr lang="en-US" altLang="zh-CN" sz="1600">
                <a:latin typeface="Times New Roman" panose="02020603050405020304" charset="0"/>
                <a:cs typeface="Times New Roman" panose="02020603050405020304" charset="0"/>
              </a:rPr>
              <a:t>2020 </a:t>
            </a:r>
            <a:endParaRPr lang="zh-CN" altLang="en-US"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Figure lengends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441325" y="863600"/>
            <a:ext cx="10504805" cy="4030980"/>
          </a:xfrm>
          <a:prstGeom prst="rect">
            <a:avLst/>
          </a:prstGeom>
        </p:spPr>
        <p:txBody>
          <a:bodyPr wrap="square">
            <a:spAutoFit/>
          </a:bodyPr>
          <a:p>
            <a:r>
              <a:rPr lang="en-US" altLang="zh-CN" sz="1600" b="1">
                <a:latin typeface="Times New Roman Bold" panose="02020603050405020304" charset="0"/>
                <a:cs typeface="Times New Roman Bold" panose="02020603050405020304" charset="0"/>
              </a:rPr>
              <a:t>Fig.1 | Overview of LocalFinder.</a:t>
            </a:r>
            <a:r>
              <a:rPr lang="en-US" altLang="zh-CN" sz="1600">
                <a:latin typeface="Times New Roman" panose="02020603050405020304" charset="0"/>
                <a:cs typeface="Times New Roman" panose="02020603050405020304" charset="0"/>
              </a:rPr>
              <a:t> </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a</a:t>
            </a:r>
            <a:r>
              <a:rPr lang="en-US" altLang="zh-CN" sz="1600">
                <a:latin typeface="Times New Roman" panose="02020603050405020304" charset="0"/>
                <a:cs typeface="Times New Roman" panose="02020603050405020304" charset="0"/>
              </a:rPr>
              <a:t>, LocalFinder workflow. Two input genomic tracks (bigWig/bedGraph/BAM) are first converted into fixed-width binned signal tracks by </a:t>
            </a:r>
            <a:r>
              <a:rPr lang="en-US" altLang="zh-CN" sz="1600" i="1">
                <a:latin typeface="Times New Roman Italic" panose="02020603050405020304" charset="0"/>
                <a:cs typeface="Times New Roman Italic" panose="02020603050405020304" charset="0"/>
              </a:rPr>
              <a:t>LocalFinder bin</a:t>
            </a:r>
            <a:r>
              <a:rPr lang="en-US" altLang="zh-CN" sz="1600">
                <a:latin typeface="Times New Roman" panose="02020603050405020304" charset="0"/>
                <a:cs typeface="Times New Roman" panose="02020603050405020304" charset="0"/>
              </a:rPr>
              <a:t> (default bin size = 200 bp). </a:t>
            </a:r>
            <a:r>
              <a:rPr lang="en-US" altLang="zh-CN" sz="1600" i="1">
                <a:latin typeface="Times New Roman Italic" panose="02020603050405020304" charset="0"/>
                <a:cs typeface="Times New Roman Italic" panose="02020603050405020304" charset="0"/>
              </a:rPr>
              <a:t>LocalFinder calc</a:t>
            </a:r>
            <a:r>
              <a:rPr lang="en-US" altLang="zh-CN" sz="1600">
                <a:latin typeface="Times New Roman" panose="02020603050405020304" charset="0"/>
                <a:cs typeface="Times New Roman" panose="02020603050405020304" charset="0"/>
              </a:rPr>
              <a:t> then applies a sliding-window strategy to compute two per-bin profiles: ES, a signed local enrichment significance score derived from a Wald test with low-coverage handling, and HMC, a harmonic-mean–weighted local Pearson correlation that down-weights low-signal bins to reduce spurious fluctuations. </a:t>
            </a:r>
            <a:r>
              <a:rPr lang="en-US" altLang="zh-CN" sz="1600" i="1">
                <a:latin typeface="Times New Roman Italic" panose="02020603050405020304" charset="0"/>
                <a:cs typeface="Times New Roman Italic" panose="02020603050405020304" charset="0"/>
              </a:rPr>
              <a:t>LocalFinder findReg</a:t>
            </a:r>
            <a:r>
              <a:rPr lang="en-US" altLang="zh-CN" sz="1600">
                <a:latin typeface="Times New Roman" panose="02020603050405020304" charset="0"/>
                <a:cs typeface="Times New Roman" panose="02020603050405020304" charset="0"/>
              </a:rPr>
              <a:t> identifies SDRs using an ES threshold; SDRs can then be prioritized by the window-averaged HMC, where lower average HMC indicates weaker local concordance and is more consistent with totally depleted or re-programmed SDRs. </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b,</a:t>
            </a:r>
            <a:r>
              <a:rPr lang="en-US" altLang="zh-CN" sz="1600">
                <a:latin typeface="Times New Roman" panose="02020603050405020304" charset="0"/>
                <a:cs typeface="Times New Roman" panose="02020603050405020304" charset="0"/>
              </a:rPr>
              <a:t> Three ways to use LocalFinder outputs. Left: Joint ES+HMC interpretation—ES and HMC jointly define four typical ES–HMC classes: totally depleted (</a:t>
            </a:r>
            <a:r>
              <a:rPr lang="en-US" altLang="zh-CN" sz="1600">
                <a:latin typeface="Times New Roman" panose="02020603050405020304" charset="0"/>
                <a:cs typeface="Times New Roman" panose="02020603050405020304" charset="0"/>
                <a:sym typeface="+mn-ea"/>
              </a:rPr>
              <a:t>ES</a:t>
            </a:r>
            <a:r>
              <a:rPr lang="en-US" altLang="zh-CN" sz="1600" baseline="30000">
                <a:uFillTx/>
                <a:latin typeface="Times New Roman" panose="02020603050405020304" charset="0"/>
                <a:cs typeface="Times New Roman" panose="02020603050405020304" charset="0"/>
                <a:sym typeface="+mn-ea"/>
              </a:rPr>
              <a:t>high </a:t>
            </a:r>
            <a:r>
              <a:rPr lang="en-US" altLang="zh-CN" sz="1600">
                <a:latin typeface="Times New Roman" panose="02020603050405020304" charset="0"/>
                <a:cs typeface="Times New Roman" panose="02020603050405020304" charset="0"/>
                <a:sym typeface="+mn-ea"/>
              </a:rPr>
              <a:t>and HMC</a:t>
            </a:r>
            <a:r>
              <a:rPr lang="en-US" altLang="zh-CN" sz="1600" baseline="30000">
                <a:uFillTx/>
                <a:latin typeface="Times New Roman" panose="02020603050405020304" charset="0"/>
                <a:cs typeface="Times New Roman" panose="02020603050405020304" charset="0"/>
                <a:sym typeface="+mn-ea"/>
              </a:rPr>
              <a:t>low</a:t>
            </a:r>
            <a:r>
              <a:rPr lang="en-US" altLang="zh-CN" sz="1600">
                <a:latin typeface="Times New Roman" panose="02020603050405020304" charset="0"/>
                <a:cs typeface="Times New Roman" panose="02020603050405020304" charset="0"/>
              </a:rPr>
              <a:t>, blue box), partially depleted (</a:t>
            </a:r>
            <a:r>
              <a:rPr lang="en-US" altLang="zh-CN" sz="1600">
                <a:latin typeface="Times New Roman" panose="02020603050405020304" charset="0"/>
                <a:cs typeface="Times New Roman" panose="02020603050405020304" charset="0"/>
                <a:sym typeface="+mn-ea"/>
              </a:rPr>
              <a:t>ES</a:t>
            </a:r>
            <a:r>
              <a:rPr lang="en-US" altLang="zh-CN" sz="1600" baseline="30000">
                <a:uFillTx/>
                <a:latin typeface="Times New Roman" panose="02020603050405020304" charset="0"/>
                <a:cs typeface="Times New Roman" panose="02020603050405020304" charset="0"/>
                <a:sym typeface="+mn-ea"/>
              </a:rPr>
              <a:t>high </a:t>
            </a:r>
            <a:r>
              <a:rPr lang="en-US" altLang="zh-CN" sz="1600">
                <a:latin typeface="Times New Roman" panose="02020603050405020304" charset="0"/>
                <a:cs typeface="Times New Roman" panose="02020603050405020304" charset="0"/>
                <a:sym typeface="+mn-ea"/>
              </a:rPr>
              <a:t>and HMC</a:t>
            </a:r>
            <a:r>
              <a:rPr lang="en-US" altLang="zh-CN" sz="1600" baseline="30000">
                <a:uFillTx/>
                <a:latin typeface="Times New Roman" panose="02020603050405020304" charset="0"/>
                <a:cs typeface="Times New Roman" panose="02020603050405020304" charset="0"/>
                <a:sym typeface="+mn-ea"/>
              </a:rPr>
              <a:t>high</a:t>
            </a:r>
            <a:r>
              <a:rPr lang="en-US" altLang="zh-CN" sz="1600">
                <a:latin typeface="Times New Roman" panose="02020603050405020304" charset="0"/>
                <a:cs typeface="Times New Roman" panose="02020603050405020304" charset="0"/>
                <a:sym typeface="+mn-ea"/>
              </a:rPr>
              <a:t>, red box)</a:t>
            </a:r>
            <a:r>
              <a:rPr lang="en-US" altLang="zh-CN" sz="1600">
                <a:latin typeface="Times New Roman" panose="02020603050405020304" charset="0"/>
                <a:cs typeface="Times New Roman" panose="02020603050405020304" charset="0"/>
              </a:rPr>
              <a:t>, unchanged-high (</a:t>
            </a:r>
            <a:r>
              <a:rPr lang="en-US" altLang="zh-CN" sz="1600">
                <a:latin typeface="Times New Roman" panose="02020603050405020304" charset="0"/>
                <a:cs typeface="Times New Roman" panose="02020603050405020304" charset="0"/>
                <a:sym typeface="+mn-ea"/>
              </a:rPr>
              <a:t>ES</a:t>
            </a:r>
            <a:r>
              <a:rPr lang="en-US" altLang="zh-CN" sz="1600" baseline="30000">
                <a:uFillTx/>
                <a:latin typeface="Times New Roman" panose="02020603050405020304" charset="0"/>
                <a:cs typeface="Times New Roman" panose="02020603050405020304" charset="0"/>
                <a:sym typeface="+mn-ea"/>
              </a:rPr>
              <a:t>low </a:t>
            </a:r>
            <a:r>
              <a:rPr lang="en-US" altLang="zh-CN" sz="1600">
                <a:latin typeface="Times New Roman" panose="02020603050405020304" charset="0"/>
                <a:cs typeface="Times New Roman" panose="02020603050405020304" charset="0"/>
                <a:sym typeface="+mn-ea"/>
              </a:rPr>
              <a:t>and HMC</a:t>
            </a:r>
            <a:r>
              <a:rPr lang="en-US" altLang="zh-CN" sz="1600" baseline="30000">
                <a:uFillTx/>
                <a:latin typeface="Times New Roman" panose="02020603050405020304" charset="0"/>
                <a:cs typeface="Times New Roman" panose="02020603050405020304" charset="0"/>
                <a:sym typeface="+mn-ea"/>
              </a:rPr>
              <a:t>high</a:t>
            </a:r>
            <a:r>
              <a:rPr lang="en-US" altLang="zh-CN" sz="1600">
                <a:latin typeface="Times New Roman" panose="02020603050405020304" charset="0"/>
                <a:cs typeface="Times New Roman" panose="02020603050405020304" charset="0"/>
                <a:sym typeface="+mn-ea"/>
              </a:rPr>
              <a:t>, black box</a:t>
            </a:r>
            <a:r>
              <a:rPr lang="en-US" altLang="zh-CN" sz="1600">
                <a:latin typeface="Times New Roman" panose="02020603050405020304" charset="0"/>
                <a:cs typeface="Times New Roman" panose="02020603050405020304" charset="0"/>
              </a:rPr>
              <a:t>), and unchanged-low (</a:t>
            </a:r>
            <a:r>
              <a:rPr lang="en-US" altLang="zh-CN" sz="1600">
                <a:latin typeface="Times New Roman" panose="02020603050405020304" charset="0"/>
                <a:cs typeface="Times New Roman" panose="02020603050405020304" charset="0"/>
                <a:sym typeface="+mn-ea"/>
              </a:rPr>
              <a:t>ES</a:t>
            </a:r>
            <a:r>
              <a:rPr lang="en-US" altLang="zh-CN" sz="1600" baseline="30000">
                <a:uFillTx/>
                <a:latin typeface="Times New Roman" panose="02020603050405020304" charset="0"/>
                <a:cs typeface="Times New Roman" panose="02020603050405020304" charset="0"/>
                <a:sym typeface="+mn-ea"/>
              </a:rPr>
              <a:t>low </a:t>
            </a:r>
            <a:r>
              <a:rPr lang="en-US" altLang="zh-CN" sz="1600">
                <a:latin typeface="Times New Roman" panose="02020603050405020304" charset="0"/>
                <a:cs typeface="Times New Roman" panose="02020603050405020304" charset="0"/>
                <a:sym typeface="+mn-ea"/>
              </a:rPr>
              <a:t>and HMC</a:t>
            </a:r>
            <a:r>
              <a:rPr lang="en-US" altLang="zh-CN" sz="1600" baseline="30000">
                <a:uFillTx/>
                <a:latin typeface="Times New Roman" panose="02020603050405020304" charset="0"/>
                <a:cs typeface="Times New Roman" panose="02020603050405020304" charset="0"/>
                <a:sym typeface="+mn-ea"/>
              </a:rPr>
              <a:t>low</a:t>
            </a:r>
            <a:r>
              <a:rPr lang="en-US" altLang="zh-CN" sz="1600">
                <a:latin typeface="Times New Roman" panose="02020603050405020304" charset="0"/>
                <a:cs typeface="Times New Roman" panose="02020603050405020304" charset="0"/>
                <a:sym typeface="+mn-ea"/>
              </a:rPr>
              <a:t>, grey box</a:t>
            </a:r>
            <a:r>
              <a:rPr lang="en-US" altLang="zh-CN" sz="1600">
                <a:latin typeface="Times New Roman" panose="02020603050405020304" charset="0"/>
                <a:cs typeface="Times New Roman" panose="02020603050405020304" charset="0"/>
              </a:rPr>
              <a:t>); SDRs correspond to the </a:t>
            </a:r>
            <a:r>
              <a:rPr lang="en-US" altLang="zh-CN" sz="1600">
                <a:latin typeface="Times New Roman" panose="02020603050405020304" charset="0"/>
                <a:cs typeface="Times New Roman" panose="02020603050405020304" charset="0"/>
                <a:sym typeface="+mn-ea"/>
              </a:rPr>
              <a:t>ES</a:t>
            </a:r>
            <a:r>
              <a:rPr lang="en-US" altLang="zh-CN" sz="1600" baseline="30000">
                <a:uFillTx/>
                <a:latin typeface="Times New Roman" panose="02020603050405020304" charset="0"/>
                <a:cs typeface="Times New Roman" panose="02020603050405020304" charset="0"/>
                <a:sym typeface="+mn-ea"/>
              </a:rPr>
              <a:t>high </a:t>
            </a:r>
            <a:r>
              <a:rPr lang="en-US" altLang="zh-CN" sz="1600">
                <a:latin typeface="Times New Roman" panose="02020603050405020304" charset="0"/>
                <a:cs typeface="Times New Roman" panose="02020603050405020304" charset="0"/>
                <a:sym typeface="+mn-ea"/>
              </a:rPr>
              <a:t>regions.</a:t>
            </a:r>
            <a:r>
              <a:rPr lang="en-US" altLang="zh-CN" sz="1600">
                <a:latin typeface="Times New Roman" panose="02020603050405020304" charset="0"/>
                <a:cs typeface="Times New Roman" panose="02020603050405020304" charset="0"/>
              </a:rPr>
              <a:t> Middle: HMC-only comparison across track pairs—HMC profiles from two track pairs are compared to assess locus-level concordance patterns; in this example, factor 1 shows higher concordance with factor 3 than with factor 2. Right: ES-only comparison across conditions—ES profiles computed for each factor between control and treated conditions can be compared across factors; concordant ES patterns suggest similar treatment-associated regulatory changes (and potentially coordinated regulation).</a:t>
            </a:r>
            <a:endParaRPr lang="en-US" altLang="zh-CN"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Figure lengends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441325" y="863600"/>
            <a:ext cx="11526520" cy="5262245"/>
          </a:xfrm>
          <a:prstGeom prst="rect">
            <a:avLst/>
          </a:prstGeom>
        </p:spPr>
        <p:txBody>
          <a:bodyPr wrap="square">
            <a:spAutoFit/>
          </a:bodyPr>
          <a:p>
            <a:r>
              <a:rPr lang="en-US" altLang="zh-CN" sz="1600" b="1">
                <a:latin typeface="Times New Roman Bold" panose="02020603050405020304" charset="0"/>
                <a:cs typeface="Times New Roman Bold" panose="02020603050405020304" charset="0"/>
              </a:rPr>
              <a:t>Fig.2 | Two-feature integration (ES+HMC) outperforms enrichment-only and correlation-only methods across datasets.</a:t>
            </a:r>
            <a:r>
              <a:rPr lang="en-US" altLang="zh-CN" sz="1600">
                <a:latin typeface="Times New Roman" panose="02020603050405020304" charset="0"/>
                <a:cs typeface="Times New Roman" panose="02020603050405020304" charset="0"/>
              </a:rPr>
              <a:t> </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a</a:t>
            </a:r>
            <a:r>
              <a:rPr lang="en-US" altLang="zh-CN" sz="1600">
                <a:latin typeface="Times New Roman" panose="02020603050405020304" charset="0"/>
                <a:cs typeface="Times New Roman" panose="02020603050405020304" charset="0"/>
              </a:rPr>
              <a:t>, Example locus illustrating the four region classes in the simulated dataset. Two simulated input tracks (Track 1 and Track 2) are shown together with the ground-truth region-type annotation. Colored bars denote regions with known labels: unchanged-high (black), unchanged-low (grey), re-programmed / patially depleted (red), and totally depleted / pre-programmed (blue). Colored boxes highlight representative instances of each class in the displayed locus (black, grey, red, and blue boxes, respectively). Below, MACS2 scores (−log10(P value)), LocalFinder ES and HMC profiles, and StereoGene local correlation (LC) are shown for the same interval, illustrating that enrichment-based scores (ES and MACS2) capture differential enrichment, whereas correlation-based scores (HMC and LC) reflect local concordance.</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b,c,</a:t>
            </a:r>
            <a:r>
              <a:rPr lang="en-US" altLang="zh-CN" sz="1600">
                <a:latin typeface="Times New Roman" panose="02020603050405020304" charset="0"/>
                <a:cs typeface="Times New Roman" panose="02020603050405020304" charset="0"/>
              </a:rPr>
              <a:t> Distributions of HMC (b) and |ES| (c) across annotated (ground-truth labeled) regions in the simulated dataset. </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d,e,</a:t>
            </a:r>
            <a:r>
              <a:rPr lang="en-US" altLang="zh-CN" sz="1600">
                <a:latin typeface="Times New Roman" panose="02020603050405020304" charset="0"/>
                <a:cs typeface="Times New Roman" panose="02020603050405020304" charset="0"/>
              </a:rPr>
              <a:t> AUPRC comparison on simulated (d) and real (e) datasets. Bars show class-specific AUPRC for partially depleted, totally depleted and unchanged regions for two-feature combinations (ES+HMC, ES+LC, MACS2+HMC and MACS2+LC) and single-feature scores (MACS2, ES, HMC and LC). Panel d summarizes the simulated-data evaluations shown in panels f–i, whereas panel e summarizes the real-data evaluations in Supplementary Fig. 2 panels d-i. </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f–i,</a:t>
            </a:r>
            <a:r>
              <a:rPr lang="en-US" altLang="zh-CN" sz="1600">
                <a:latin typeface="Times New Roman" panose="02020603050405020304" charset="0"/>
                <a:cs typeface="Times New Roman" panose="02020603050405020304" charset="0"/>
              </a:rPr>
              <a:t> </a:t>
            </a:r>
            <a:r>
              <a:rPr lang="en-US" altLang="zh-CN" sz="1600">
                <a:latin typeface="Times New Roman" panose="02020603050405020304" charset="0"/>
                <a:cs typeface="Times New Roman" panose="02020603050405020304" charset="0"/>
                <a:sym typeface="+mn-ea"/>
              </a:rPr>
              <a:t>Performance of two-feature combinations</a:t>
            </a:r>
            <a:r>
              <a:rPr lang="en-US" altLang="zh-CN" sz="1600">
                <a:latin typeface="Times New Roman" panose="02020603050405020304" charset="0"/>
                <a:cs typeface="Times New Roman" panose="02020603050405020304" charset="0"/>
              </a:rPr>
              <a:t> on the simulated dataset.Annotated regions from the simulated dataset are shown in pairwise feature space (left) together with the corresponding one-vs-rest precision–recall (PR) curves (right) for classifying partially depleted, totally depleted, and unchanged regions. f, |ES| versus HMC. g, |ES| versus StereoGene local correlation (LC). h, MACS2 score (−log10 P) versus HMC. i, MACS2 score (−log10 P) versus StereoGene LC. Points are colored by ground-truth class; AUPRC values are reported in the PR-curve legends.</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j–m,</a:t>
            </a:r>
            <a:r>
              <a:rPr lang="en-US" altLang="zh-CN" sz="1600">
                <a:latin typeface="Times New Roman" panose="02020603050405020304" charset="0"/>
                <a:cs typeface="Times New Roman" panose="02020603050405020304" charset="0"/>
              </a:rPr>
              <a:t> </a:t>
            </a:r>
            <a:r>
              <a:rPr lang="en-US" altLang="zh-CN" sz="1600">
                <a:latin typeface="Times New Roman" panose="02020603050405020304" charset="0"/>
                <a:cs typeface="Times New Roman" panose="02020603050405020304" charset="0"/>
                <a:sym typeface="+mn-ea"/>
              </a:rPr>
              <a:t>Performance of single features</a:t>
            </a:r>
            <a:r>
              <a:rPr lang="en-US" altLang="zh-CN" sz="1600">
                <a:latin typeface="Times New Roman" panose="02020603050405020304" charset="0"/>
                <a:cs typeface="Times New Roman" panose="02020603050405020304" charset="0"/>
              </a:rPr>
              <a:t> on the simulated dataset. Per-class score distributions for annotated regions (left) and the corresponding one-vs-rest PR curves (right) are shown for individual features. j, MACS2 score (−log10 P). k, |ES|. l, HMC. m, StereoGene LC. AUPRC values are reported in the PR-curve legends.</a:t>
            </a:r>
            <a:endParaRPr lang="en-US" altLang="zh-CN"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Figure lengends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441325" y="863600"/>
            <a:ext cx="11526520" cy="3538220"/>
          </a:xfrm>
          <a:prstGeom prst="rect">
            <a:avLst/>
          </a:prstGeom>
        </p:spPr>
        <p:txBody>
          <a:bodyPr wrap="square">
            <a:spAutoFit/>
          </a:bodyPr>
          <a:p>
            <a:r>
              <a:rPr lang="en-US" altLang="zh-CN" sz="1600" b="1">
                <a:latin typeface="Times New Roman Bold" panose="02020603050405020304" charset="0"/>
                <a:cs typeface="Times New Roman Bold" panose="02020603050405020304" charset="0"/>
              </a:rPr>
              <a:t>Fig.S2 | Two-feature integration (ES+HMC) outperforms enrichment-only and correlation-only methods on real dataset.</a:t>
            </a:r>
            <a:r>
              <a:rPr lang="en-US" altLang="zh-CN" sz="1600">
                <a:latin typeface="Times New Roman" panose="02020603050405020304" charset="0"/>
                <a:cs typeface="Times New Roman" panose="02020603050405020304" charset="0"/>
              </a:rPr>
              <a:t> </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a,</a:t>
            </a:r>
            <a:r>
              <a:rPr lang="en-US" altLang="zh-CN" sz="1600">
                <a:latin typeface="Times New Roman" panose="02020603050405020304" charset="0"/>
                <a:cs typeface="Times New Roman" panose="02020603050405020304" charset="0"/>
              </a:rPr>
              <a:t> Example locus illustrating annotated region classes in the real dataset. Two experimental input tracks (e.g., untreated and auxin-treated ) are shown together with the region-type annotation (unchanged, black; partially depleted, red; totally depleted, blue). The dashed red box marks a region labeled as totally depleted in the original annotation but exhibiting a partially depleted pattern by visual inspection. Below, MACS2 score (−log10(P value)), LocalFinder ES and HMC profiles, and StereoGene local correlation (LC) are shown across the same interval.</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b,c,</a:t>
            </a:r>
            <a:r>
              <a:rPr lang="en-US" altLang="zh-CN" sz="1600">
                <a:latin typeface="Times New Roman" panose="02020603050405020304" charset="0"/>
                <a:cs typeface="Times New Roman" panose="02020603050405020304" charset="0"/>
              </a:rPr>
              <a:t> Distributions of HMC (b) and ES (c) across annotated regions in the real dataset.</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d–g,</a:t>
            </a:r>
            <a:r>
              <a:rPr lang="en-US" altLang="zh-CN" sz="1600">
                <a:latin typeface="Times New Roman" panose="02020603050405020304" charset="0"/>
                <a:cs typeface="Times New Roman" panose="02020603050405020304" charset="0"/>
              </a:rPr>
              <a:t> Performance of two-feature combinations on real dataset. Annotated regions are shown in pairwise feature space (left) with the corresponding one-vs-rest precision–recall (PR) curves (right) for classifying partially depleted, totally depleted and unchanged regions. d, ES versus HMC. e, ES versus StereoGene LC. f, MACS2 score (−log10 P) versus HMC. g, MACS2 score (−log10 P) versus StereoGene LC. AUPRC values are reported in the PR-curve legends.</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h–k,</a:t>
            </a:r>
            <a:r>
              <a:rPr lang="en-US" altLang="zh-CN" sz="1600">
                <a:latin typeface="Times New Roman" panose="02020603050405020304" charset="0"/>
                <a:cs typeface="Times New Roman" panose="02020603050405020304" charset="0"/>
              </a:rPr>
              <a:t> Performance of single features on real dataset. Per-class score distributions (left) and the corresponding one-vs-rest PR curves (right) are shown for individual features. h, MACS2 score (−log10 P). i, ES. j, HMC. k, StereoGene LC. AUPRC values are reported in the PR-curve legends.</a:t>
            </a:r>
            <a:endParaRPr lang="en-US" altLang="zh-CN"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Figure lengends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441325" y="863600"/>
            <a:ext cx="11526520" cy="1814830"/>
          </a:xfrm>
          <a:prstGeom prst="rect">
            <a:avLst/>
          </a:prstGeom>
        </p:spPr>
        <p:txBody>
          <a:bodyPr wrap="square">
            <a:spAutoFit/>
          </a:bodyPr>
          <a:p>
            <a:r>
              <a:rPr lang="en-US" altLang="zh-CN" sz="1600" b="1">
                <a:latin typeface="Times New Roman Bold" panose="02020603050405020304" charset="0"/>
                <a:cs typeface="Times New Roman Bold" panose="02020603050405020304" charset="0"/>
              </a:rPr>
              <a:t>Fig. | LocalFinder distinguishes differential CTCF perturbation effects between knockout and knockdown.</a:t>
            </a:r>
            <a:r>
              <a:rPr lang="en-US" altLang="zh-CN" sz="1600">
                <a:latin typeface="Times New Roman" panose="02020603050405020304" charset="0"/>
                <a:cs typeface="Times New Roman" panose="02020603050405020304" charset="0"/>
              </a:rPr>
              <a:t> </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a,</a:t>
            </a:r>
            <a:r>
              <a:rPr lang="en-US" altLang="zh-CN" sz="1600">
                <a:latin typeface="Times New Roman" panose="02020603050405020304" charset="0"/>
                <a:cs typeface="Times New Roman" panose="02020603050405020304" charset="0"/>
              </a:rPr>
              <a:t> Representative locus comparing CTCF perturbations in KO-like (CTCF-AID: untreated vs auxin) and KD (CTCF shCtrl vs shCTCF). For each track pair, the input signal tracks are shown together with LocalFinder outputs: the local enrichment significance (ES), the harmonic-mean–weighted local correlation (HMC), and significantly differential regions (SDRs) called by thresholding ES.</a:t>
            </a:r>
            <a:endParaRPr lang="en-US" altLang="zh-CN" sz="1600">
              <a:latin typeface="Times New Roman" panose="02020603050405020304" charset="0"/>
              <a:cs typeface="Times New Roman" panose="02020603050405020304" charset="0"/>
            </a:endParaRPr>
          </a:p>
          <a:p>
            <a:r>
              <a:rPr lang="en-US" altLang="zh-CN" sz="1600" b="1">
                <a:latin typeface="Times New Roman Bold" panose="02020603050405020304" charset="0"/>
                <a:cs typeface="Times New Roman Bold" panose="02020603050405020304" charset="0"/>
              </a:rPr>
              <a:t>b,</a:t>
            </a:r>
            <a:r>
              <a:rPr lang="en-US" altLang="zh-CN" sz="1600">
                <a:latin typeface="Times New Roman" panose="02020603050405020304" charset="0"/>
                <a:cs typeface="Times New Roman" panose="02020603050405020304" charset="0"/>
              </a:rPr>
              <a:t> Joint ES–HMC landscape distinguishes KO-like and KD perturbations. Scatter plot of ES versus log(1+HMC) across binned genomic positions for the KO (CTCF-AID comparison) and KD (shRNA comparison), with marginal density plots summarizing the distributions along each axis.</a:t>
            </a:r>
            <a:endParaRPr lang="en-US" altLang="zh-CN"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Figure lengends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441325" y="863600"/>
            <a:ext cx="11526520" cy="1814830"/>
          </a:xfrm>
          <a:prstGeom prst="rect">
            <a:avLst/>
          </a:prstGeom>
        </p:spPr>
        <p:txBody>
          <a:bodyPr wrap="square">
            <a:spAutoFit/>
          </a:bodyPr>
          <a:p>
            <a:r>
              <a:rPr lang="en-US" altLang="zh-CN" sz="1600" b="1">
                <a:latin typeface="Times New Roman Bold" panose="02020603050405020304" charset="0"/>
                <a:cs typeface="Times New Roman Bold" panose="02020603050405020304" charset="0"/>
              </a:rPr>
              <a:t>Fig. | LocalFinder distinguishes 5 binding pattern of RAR and VDR</a:t>
            </a:r>
            <a:r>
              <a:rPr lang="en-US" altLang="zh-CN" sz="1600">
                <a:latin typeface="Times New Roman" panose="02020603050405020304" charset="0"/>
                <a:cs typeface="Times New Roman" panose="02020603050405020304" charset="0"/>
              </a:rPr>
              <a:t> </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a, Example view showing RAR and VDR tracks together with regions labels and the corresponding ES and HMC profiles across a representative locus. Colored label marks indicate loci assigned to the five classes.</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b,c, D</a:t>
            </a:r>
            <a:r>
              <a:rPr lang="en-US" altLang="zh-CN" sz="1600">
                <a:latin typeface="Times New Roman" panose="02020603050405020304" charset="0"/>
                <a:cs typeface="Times New Roman" panose="02020603050405020304" charset="0"/>
                <a:sym typeface="+mn-ea"/>
              </a:rPr>
              <a:t>istributions of HMC (b) and ES (c) across annotated regions in the real dataset.</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d, Scatter plot of ES versus HMC for all 5 classes of regions: VDR_dominant, VDR_only, RAR_dominant, RAR_only, and similarly-occupied.</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e, One-vs-rest PR curves evaluating classification performance for each binding pattern</a:t>
            </a:r>
            <a:endParaRPr lang="en-US" altLang="zh-CN"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Figure lengends</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441325" y="863600"/>
            <a:ext cx="11526520" cy="2553335"/>
          </a:xfrm>
          <a:prstGeom prst="rect">
            <a:avLst/>
          </a:prstGeom>
        </p:spPr>
        <p:txBody>
          <a:bodyPr wrap="square">
            <a:spAutoFit/>
          </a:bodyPr>
          <a:p>
            <a:r>
              <a:rPr lang="en-US" altLang="zh-CN" sz="1600" b="1">
                <a:latin typeface="Times New Roman Bold" panose="02020603050405020304" charset="0"/>
                <a:cs typeface="Times New Roman Bold" panose="02020603050405020304" charset="0"/>
              </a:rPr>
              <a:t>Fig.5 | LocalFinder stratifies local co-occupancy patterns between Factor1 and Factor2 and links them to chromatin and 3D-genome context. </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(A1) Genome-browser example showing Factor1 and Factor2 signal tracks together with Hi-C contact map, chromHMM segmentation, loop calls, and ES and HMC profiles across a representative locus.</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(A4–A5) Distributions of HMC and ES in SDRs, respectively. (A6) ES–HMC scatter plot of SDRs (each point is one SDR; features averaged across bins within the SDR). SDRs are classified into five occupancy patterns based on the relative Factor1/Factor2 signal: Factor1_only, Factor1_dominant, similar, Factor2_dominant, and Factor2_only. (A7) Proportion of SDRs in each of the five classes. (A8) ChromHMM state distribution over the 5 classes. </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(A9) Overlap of 5 classes with TAD categories (strong/weak loop anchors vs non-loop regions; percentages). </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(A10) Genomic annotation distribution of 5 classes. (A11) Aggregate peak analysis (APA) scores of loops associated with 5 classes </a:t>
            </a:r>
            <a:endParaRPr lang="en-US" altLang="zh-CN"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347022" y="58854"/>
            <a:ext cx="10219067" cy="1288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a:highlight>
                  <a:srgbClr val="FFFFFF"/>
                </a:highlight>
                <a:latin typeface="Times New Roman" panose="02020603050405020304" charset="0"/>
                <a:cs typeface="Times New Roman" panose="02020603050405020304" charset="0"/>
                <a:sym typeface="+mn-ea"/>
              </a:rPr>
              <a:t>Note</a:t>
            </a:r>
            <a:br>
              <a:rPr lang="en-US" altLang="zh-CN" sz="2800" b="1" i="0">
                <a:solidFill>
                  <a:srgbClr val="222222"/>
                </a:solidFill>
                <a:effectLst/>
                <a:highlight>
                  <a:srgbClr val="FFFFFF"/>
                </a:highlight>
                <a:latin typeface="Harding"/>
              </a:rPr>
            </a:br>
            <a:endParaRPr lang="zh-CN" altLang="en-US" sz="2800"/>
          </a:p>
        </p:txBody>
      </p:sp>
      <p:cxnSp>
        <p:nvCxnSpPr>
          <p:cNvPr id="6" name="直接连接符 5"/>
          <p:cNvCxnSpPr/>
          <p:nvPr/>
        </p:nvCxnSpPr>
        <p:spPr>
          <a:xfrm>
            <a:off x="347022" y="776176"/>
            <a:ext cx="939338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 name="直接连接符 3"/>
          <p:cNvCxnSpPr/>
          <p:nvPr/>
        </p:nvCxnSpPr>
        <p:spPr>
          <a:xfrm>
            <a:off x="256310" y="705673"/>
            <a:ext cx="939338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441325" y="863600"/>
            <a:ext cx="10504805" cy="337185"/>
          </a:xfrm>
          <a:prstGeom prst="rect">
            <a:avLst/>
          </a:prstGeom>
        </p:spPr>
        <p:txBody>
          <a:bodyPr wrap="square">
            <a:spAutoFit/>
          </a:bodyPr>
          <a:p>
            <a:r>
              <a:rPr lang="en-US" altLang="zh-CN" sz="1600">
                <a:latin typeface="Times New Roman" panose="02020603050405020304" charset="0"/>
                <a:cs typeface="Times New Roman" panose="02020603050405020304" charset="0"/>
              </a:rPr>
              <a:t>1. Change all MACS2 pvalue into -log10p</a:t>
            </a:r>
            <a:endParaRPr lang="en-US" altLang="zh-CN" sz="1600">
              <a:latin typeface="Times New Roman" panose="02020603050405020304" charset="0"/>
              <a:cs typeface="Times New Roman" panose="02020603050405020304" charset="0"/>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commondata" val="eyJoZGlkIjoiOWQ1OWE4ZDIzNGE0MzNlYWM3OTAzMTdiZWY5ZWJjOWI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16764</Words>
  <Application>WPS 演示</Application>
  <PresentationFormat>宽屏</PresentationFormat>
  <Paragraphs>87</Paragraphs>
  <Slides>14</Slides>
  <Notes>4</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14</vt:i4>
      </vt:variant>
    </vt:vector>
  </HeadingPairs>
  <TitlesOfParts>
    <vt:vector size="35" baseType="lpstr">
      <vt:lpstr>Arial</vt:lpstr>
      <vt:lpstr>宋体</vt:lpstr>
      <vt:lpstr>Wingdings</vt:lpstr>
      <vt:lpstr>Wingdings</vt:lpstr>
      <vt:lpstr>Times New Roman</vt:lpstr>
      <vt:lpstr>Calibri</vt:lpstr>
      <vt:lpstr>Helvetica Neue</vt:lpstr>
      <vt:lpstr>Harding</vt:lpstr>
      <vt:lpstr>Thonburi</vt:lpstr>
      <vt:lpstr>Times New Roman Bold</vt:lpstr>
      <vt:lpstr>微软雅黑</vt:lpstr>
      <vt:lpstr>汉仪旗黑</vt:lpstr>
      <vt:lpstr>宋体</vt:lpstr>
      <vt:lpstr>Arial Unicode MS</vt:lpstr>
      <vt:lpstr>汉仪书宋二KW</vt:lpstr>
      <vt:lpstr>微软雅黑</vt:lpstr>
      <vt:lpstr>Times New Roman Italic</vt:lpstr>
      <vt:lpstr>Harding</vt:lpstr>
      <vt:lpstr>苹方-简</vt:lpstr>
      <vt:lpstr>Apple Symbols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Trash</cp:lastModifiedBy>
  <cp:revision>287</cp:revision>
  <dcterms:created xsi:type="dcterms:W3CDTF">2026-01-10T18:08:28Z</dcterms:created>
  <dcterms:modified xsi:type="dcterms:W3CDTF">2026-01-10T18:08:28Z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2052-7.2.1.8947</vt:lpwstr>
  </property>
  <property fmtid="{D5CDD505-2E9C-101B-9397-08002B2CF9AE}" pid="3" name="ICV">
    <vt:lpwstr>A7D0246E929203C39C956269180957CE_43</vt:lpwstr>
  </property>
</Properties>
</file>